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uce" charset="1" panose="00000500000000000000"/>
      <p:regular r:id="rId23"/>
    </p:embeddedFont>
    <p:embeddedFont>
      <p:font typeface="Open Sauce Bold" charset="1" panose="00000800000000000000"/>
      <p:regular r:id="rId24"/>
    </p:embeddedFont>
    <p:embeddedFont>
      <p:font typeface="Open Sauce Semi-Bold" charset="1" panose="000007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36236"/>
            <a:ext cx="7547475" cy="130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5"/>
              </a:lnSpc>
            </a:pPr>
            <a:r>
              <a:rPr lang="en-US" sz="9255" spc="-54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GEORUGGINE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08035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21774" y="5938620"/>
            <a:ext cx="417300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POTENZA LUCA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944219" cy="568248"/>
          </a:xfrm>
          <a:custGeom>
            <a:avLst/>
            <a:gdLst/>
            <a:ahLst/>
            <a:cxnLst/>
            <a:rect r="r" b="b" t="t" l="l"/>
            <a:pathLst>
              <a:path h="568248" w="944219">
                <a:moveTo>
                  <a:pt x="0" y="0"/>
                </a:moveTo>
                <a:lnTo>
                  <a:pt x="944219" y="0"/>
                </a:lnTo>
                <a:lnTo>
                  <a:pt x="944219" y="568248"/>
                </a:lnTo>
                <a:lnTo>
                  <a:pt x="0" y="568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21774" y="6436588"/>
            <a:ext cx="417300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RUSCITTO VIRGINIA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21774" y="6934556"/>
            <a:ext cx="417300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SACCO VINCENZO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21774" y="7432525"/>
            <a:ext cx="417300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TUNIS MAURO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69337" y="5938620"/>
            <a:ext cx="211866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S323344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69337" y="6436588"/>
            <a:ext cx="211866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S353342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69337" y="6934556"/>
            <a:ext cx="211866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S360775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69337" y="7432525"/>
            <a:ext cx="211866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S339767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21774" y="5191125"/>
            <a:ext cx="5119372" cy="56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b="true" sz="4048" spc="-14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GRUPPO 23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60556" y="1028700"/>
            <a:ext cx="6255889" cy="8229600"/>
            <a:chOff x="0" y="0"/>
            <a:chExt cx="812800" cy="10692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812800">
                  <a:moveTo>
                    <a:pt x="28463" y="0"/>
                  </a:moveTo>
                  <a:lnTo>
                    <a:pt x="784337" y="0"/>
                  </a:lnTo>
                  <a:cubicBezTo>
                    <a:pt x="800056" y="0"/>
                    <a:pt x="812800" y="12744"/>
                    <a:pt x="812800" y="28463"/>
                  </a:cubicBezTo>
                  <a:lnTo>
                    <a:pt x="812800" y="1040772"/>
                  </a:lnTo>
                  <a:cubicBezTo>
                    <a:pt x="812800" y="1056492"/>
                    <a:pt x="800056" y="1069236"/>
                    <a:pt x="784337" y="1069236"/>
                  </a:cubicBezTo>
                  <a:lnTo>
                    <a:pt x="28463" y="1069236"/>
                  </a:lnTo>
                  <a:cubicBezTo>
                    <a:pt x="12744" y="1069236"/>
                    <a:pt x="0" y="1056492"/>
                    <a:pt x="0" y="1040772"/>
                  </a:cubicBezTo>
                  <a:lnTo>
                    <a:pt x="0" y="28463"/>
                  </a:lnTo>
                  <a:cubicBezTo>
                    <a:pt x="0" y="12744"/>
                    <a:pt x="12744" y="0"/>
                    <a:pt x="28463" y="0"/>
                  </a:cubicBezTo>
                  <a:close/>
                </a:path>
              </a:pathLst>
            </a:custGeom>
            <a:blipFill>
              <a:blip r:embed="rId4"/>
              <a:stretch>
                <a:fillRect l="-37699" t="0" r="-3769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09700" y="2111272"/>
            <a:ext cx="6737800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OBIETTIVI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9700" y="4871232"/>
            <a:ext cx="15568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-35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" y="6642809"/>
            <a:ext cx="15568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-35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5835" y="5087450"/>
            <a:ext cx="57725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b="true" sz="18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Gestione di una flotta di veicoli in tempo reale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65835" y="6701864"/>
            <a:ext cx="577250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b="true" sz="18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Comunicazione unicast e broadcast tra veicoli e server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9700" y="8414385"/>
            <a:ext cx="15568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-35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5835" y="8630602"/>
            <a:ext cx="57725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b="true" sz="18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 di report sui veicoli monitorati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4751890"/>
            <a:ext cx="8230424" cy="246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Accesso tramite moduli DAO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Connessione condivisa al database: Arc&lt;Mutex&lt;Connection&gt;&gt;</a:t>
            </a:r>
          </a:p>
          <a:p>
            <a:pPr algn="l" marL="610996" indent="-305498" lvl="1">
              <a:lnSpc>
                <a:spcPts val="39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Esecuzione delle query sincrone tramite rusqlite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800732" y="4374468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62943" y="2741993"/>
            <a:ext cx="5396357" cy="5962826"/>
          </a:xfrm>
          <a:custGeom>
            <a:avLst/>
            <a:gdLst/>
            <a:ahLst/>
            <a:cxnLst/>
            <a:rect r="r" b="b" t="t" l="l"/>
            <a:pathLst>
              <a:path h="5962826" w="5396357">
                <a:moveTo>
                  <a:pt x="0" y="0"/>
                </a:moveTo>
                <a:lnTo>
                  <a:pt x="5396357" y="0"/>
                </a:lnTo>
                <a:lnTo>
                  <a:pt x="5396357" y="5962825"/>
                </a:lnTo>
                <a:lnTo>
                  <a:pt x="0" y="5962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0489" y="2725480"/>
            <a:ext cx="871874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891099"/>
          <a:ext cx="16230600" cy="5276850"/>
        </p:xfrm>
        <a:graphic>
          <a:graphicData uri="http://schemas.openxmlformats.org/drawingml/2006/table">
            <a:tbl>
              <a:tblPr/>
              <a:tblGrid>
                <a:gridCol w="3420957"/>
                <a:gridCol w="12809643"/>
              </a:tblGrid>
              <a:tr h="1170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Tabella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Attributi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5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, name, surname, email (UNIQUE), is_admin, password_hash, created_at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5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position_log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id,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user_id (FK -&gt; users.id), lat, lon, recorded_at) - idx_position_log_user_time (user_id, recorded_at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5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movement_sessions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, user_id (FK -&gt; users.id), state, started_at, ended_at) - idx_movement_sessions_user_time (user_id, started_at)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5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messages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, sender_id (FK -&gt; users.id, nullable), recipient_id (FK -&gt; users.id, nullable), content, sent_at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293359" y="809119"/>
            <a:ext cx="1370128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ORGANIZZAZIONE DATABASE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4296" y="2591535"/>
            <a:ext cx="6459704" cy="691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AppState raccoglie lo stato condiviso dell’applicazione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ActiveUsers è contenuto dentro AppState ed è così definito: Arc&lt;RwLock&lt;HashMap&lt;i64, UserSession&gt;&gt;&gt;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 per condivisione tra i task asincroni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RwLock per l’accesso concorrente</a:t>
            </a:r>
          </a:p>
          <a:p>
            <a:pPr algn="l" marL="610996" indent="-305498" lvl="1">
              <a:lnSpc>
                <a:spcPts val="39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mappa utilizza l'identificativo dell'utente come chiave e associa a ciascuno una UserSession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648685"/>
            <a:ext cx="6415723" cy="6862318"/>
          </a:xfrm>
          <a:custGeom>
            <a:avLst/>
            <a:gdLst/>
            <a:ahLst/>
            <a:cxnLst/>
            <a:rect r="r" b="b" t="t" l="l"/>
            <a:pathLst>
              <a:path h="6862318" w="6415723">
                <a:moveTo>
                  <a:pt x="0" y="0"/>
                </a:moveTo>
                <a:lnTo>
                  <a:pt x="6415723" y="0"/>
                </a:lnTo>
                <a:lnTo>
                  <a:pt x="6415723" y="6862318"/>
                </a:lnTo>
                <a:lnTo>
                  <a:pt x="0" y="6862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1632" y="1123950"/>
            <a:ext cx="8764735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STATO CONDIVISO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4296" y="3388741"/>
            <a:ext cx="12919407" cy="394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Tokio viene utilizzato nel main per l’esecuzione di alcune delle task principali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cpu_logging registra periodicamente informazioni sull’utilizzo della CPU.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mqtt_listener gestisce la connessione MQTT e i messaggi ricevuti dal broker</a:t>
            </a:r>
          </a:p>
          <a:p>
            <a:pPr algn="l" marL="610996" indent="-305498" lvl="1">
              <a:lnSpc>
                <a:spcPts val="39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stale_state_watcher controlla gli utenti o veicoli rimasti in uno stato non aggiornato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0816" y="1123950"/>
            <a:ext cx="13526368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PRINCIPALI TASK ASINCRONE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5086350"/>
            <a:ext cx="8147676" cy="245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577" indent="-304788" lvl="1">
              <a:lnSpc>
                <a:spcPts val="3952"/>
              </a:lnSpc>
              <a:buFont typeface="Arial"/>
              <a:buChar char="•"/>
            </a:pPr>
            <a:r>
              <a:rPr lang="en-US" b="true" sz="282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Coordinazione comunicazione tra i client</a:t>
            </a:r>
          </a:p>
          <a:p>
            <a:pPr algn="l" marL="609577" indent="-304788" lvl="1">
              <a:lnSpc>
                <a:spcPts val="3952"/>
              </a:lnSpc>
              <a:buFont typeface="Arial"/>
              <a:buChar char="•"/>
            </a:pPr>
            <a:r>
              <a:rPr lang="en-US" b="true" sz="282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Gestione utenti, messaggi, stati e dati</a:t>
            </a:r>
          </a:p>
          <a:p>
            <a:pPr algn="l" marL="609577" indent="-304788" lvl="1">
              <a:lnSpc>
                <a:spcPts val="39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Ogni utente che ricopre il ruolo di amministratore agisce in realtà in veste di server, condividendo un’unica vista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60556" y="1028700"/>
            <a:ext cx="6255889" cy="8229600"/>
            <a:chOff x="0" y="0"/>
            <a:chExt cx="812800" cy="1069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812800">
                  <a:moveTo>
                    <a:pt x="28463" y="0"/>
                  </a:moveTo>
                  <a:lnTo>
                    <a:pt x="784337" y="0"/>
                  </a:lnTo>
                  <a:cubicBezTo>
                    <a:pt x="800056" y="0"/>
                    <a:pt x="812800" y="12744"/>
                    <a:pt x="812800" y="28463"/>
                  </a:cubicBezTo>
                  <a:lnTo>
                    <a:pt x="812800" y="1040772"/>
                  </a:lnTo>
                  <a:cubicBezTo>
                    <a:pt x="812800" y="1056492"/>
                    <a:pt x="800056" y="1069236"/>
                    <a:pt x="784337" y="1069236"/>
                  </a:cubicBezTo>
                  <a:lnTo>
                    <a:pt x="28463" y="1069236"/>
                  </a:lnTo>
                  <a:cubicBezTo>
                    <a:pt x="12744" y="1069236"/>
                    <a:pt x="0" y="1056492"/>
                    <a:pt x="0" y="1040772"/>
                  </a:cubicBezTo>
                  <a:lnTo>
                    <a:pt x="0" y="28463"/>
                  </a:lnTo>
                  <a:cubicBezTo>
                    <a:pt x="0" y="12744"/>
                    <a:pt x="12744" y="0"/>
                    <a:pt x="28463" y="0"/>
                  </a:cubicBezTo>
                  <a:close/>
                </a:path>
              </a:pathLst>
            </a:custGeom>
            <a:blipFill>
              <a:blip r:embed="rId4"/>
              <a:stretch>
                <a:fillRect l="-48909" t="0" r="-4890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90489" y="2725480"/>
            <a:ext cx="871874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SERVER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CLIENT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87645"/>
            <a:ext cx="8657419" cy="146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953" indent="-304977" lvl="1">
              <a:lnSpc>
                <a:spcPts val="3955"/>
              </a:lnSpc>
              <a:buFont typeface="Arial"/>
              <a:buChar char="•"/>
            </a:pPr>
            <a:r>
              <a:rPr lang="en-US" b="true" sz="282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Applicazione usata da utenti e amministratori</a:t>
            </a:r>
          </a:p>
          <a:p>
            <a:pPr algn="l" marL="609953" indent="-304977" lvl="1">
              <a:lnSpc>
                <a:spcPts val="39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 client per tipologia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60556" y="1028700"/>
            <a:ext cx="6255889" cy="8229600"/>
            <a:chOff x="0" y="0"/>
            <a:chExt cx="812800" cy="10692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812800">
                  <a:moveTo>
                    <a:pt x="28463" y="0"/>
                  </a:moveTo>
                  <a:lnTo>
                    <a:pt x="784337" y="0"/>
                  </a:lnTo>
                  <a:cubicBezTo>
                    <a:pt x="800056" y="0"/>
                    <a:pt x="812800" y="12744"/>
                    <a:pt x="812800" y="28463"/>
                  </a:cubicBezTo>
                  <a:lnTo>
                    <a:pt x="812800" y="1040772"/>
                  </a:lnTo>
                  <a:cubicBezTo>
                    <a:pt x="812800" y="1056492"/>
                    <a:pt x="800056" y="1069236"/>
                    <a:pt x="784337" y="1069236"/>
                  </a:cubicBezTo>
                  <a:lnTo>
                    <a:pt x="28463" y="1069236"/>
                  </a:lnTo>
                  <a:cubicBezTo>
                    <a:pt x="12744" y="1069236"/>
                    <a:pt x="0" y="1056492"/>
                    <a:pt x="0" y="1040772"/>
                  </a:cubicBezTo>
                  <a:lnTo>
                    <a:pt x="0" y="28463"/>
                  </a:lnTo>
                  <a:cubicBezTo>
                    <a:pt x="0" y="12744"/>
                    <a:pt x="12744" y="0"/>
                    <a:pt x="28463" y="0"/>
                  </a:cubicBezTo>
                  <a:close/>
                </a:path>
              </a:pathLst>
            </a:custGeom>
            <a:blipFill>
              <a:blip r:embed="rId4"/>
              <a:stretch>
                <a:fillRect l="-60083" t="0" r="-60083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7017" y="1504900"/>
            <a:ext cx="11613966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HTTP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1215" y="3222879"/>
            <a:ext cx="9925569" cy="146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141" indent="-305071" lvl="1">
              <a:lnSpc>
                <a:spcPts val="3956"/>
              </a:lnSpc>
              <a:buFont typeface="Arial"/>
              <a:buChar char="•"/>
            </a:pPr>
            <a:r>
              <a:rPr lang="en-US" b="true" sz="282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Accesso e autenticazione</a:t>
            </a:r>
          </a:p>
          <a:p>
            <a:pPr algn="l" marL="610141" indent="-305071" lvl="1">
              <a:lnSpc>
                <a:spcPts val="3956"/>
              </a:lnSpc>
              <a:buFont typeface="Arial"/>
              <a:buChar char="•"/>
            </a:pPr>
            <a:r>
              <a:rPr lang="en-US" b="true" sz="282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Azioni degli amministratori e gestione degli utenti</a:t>
            </a:r>
          </a:p>
          <a:p>
            <a:pPr algn="l" marL="610141" indent="-305071" lvl="1">
              <a:lnSpc>
                <a:spcPts val="39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Comunicazione con il server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00128" y="5848932"/>
            <a:ext cx="15887745" cy="3409368"/>
            <a:chOff x="0" y="0"/>
            <a:chExt cx="2064225" cy="442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4225" cy="442964"/>
            </a:xfrm>
            <a:custGeom>
              <a:avLst/>
              <a:gdLst/>
              <a:ahLst/>
              <a:cxnLst/>
              <a:rect r="r" b="b" t="t" l="l"/>
              <a:pathLst>
                <a:path h="442964" w="2064225">
                  <a:moveTo>
                    <a:pt x="11208" y="0"/>
                  </a:moveTo>
                  <a:lnTo>
                    <a:pt x="2053017" y="0"/>
                  </a:lnTo>
                  <a:cubicBezTo>
                    <a:pt x="2059207" y="0"/>
                    <a:pt x="2064225" y="5018"/>
                    <a:pt x="2064225" y="11208"/>
                  </a:cubicBezTo>
                  <a:lnTo>
                    <a:pt x="2064225" y="431756"/>
                  </a:lnTo>
                  <a:cubicBezTo>
                    <a:pt x="2064225" y="437946"/>
                    <a:pt x="2059207" y="442964"/>
                    <a:pt x="2053017" y="442964"/>
                  </a:cubicBezTo>
                  <a:lnTo>
                    <a:pt x="11208" y="442964"/>
                  </a:lnTo>
                  <a:cubicBezTo>
                    <a:pt x="5018" y="442964"/>
                    <a:pt x="0" y="437946"/>
                    <a:pt x="0" y="431756"/>
                  </a:cubicBezTo>
                  <a:lnTo>
                    <a:pt x="0" y="11208"/>
                  </a:lnTo>
                  <a:cubicBezTo>
                    <a:pt x="0" y="5018"/>
                    <a:pt x="5018" y="0"/>
                    <a:pt x="1120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5051" r="0" b="-10505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7017" y="1504900"/>
            <a:ext cx="11613966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MQTT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92131" y="3220135"/>
            <a:ext cx="9703737" cy="196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330" indent="-305665" lvl="1">
              <a:lnSpc>
                <a:spcPts val="3964"/>
              </a:lnSpc>
              <a:buFont typeface="Arial"/>
              <a:buChar char="•"/>
            </a:pPr>
            <a:r>
              <a:rPr lang="en-US" b="true" sz="283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Invio periodico della posizione e messaggistica degli autisti</a:t>
            </a:r>
          </a:p>
          <a:p>
            <a:pPr algn="l" marL="611330" indent="-305665" lvl="1">
              <a:lnSpc>
                <a:spcPts val="3964"/>
              </a:lnSpc>
              <a:buFont typeface="Arial"/>
              <a:buChar char="•"/>
            </a:pPr>
            <a:r>
              <a:rPr lang="en-US" b="true" sz="283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Protocollo adatto alla natura IoT del client utente</a:t>
            </a:r>
          </a:p>
          <a:p>
            <a:pPr algn="l" marL="611330" indent="-305665" lvl="1">
              <a:lnSpc>
                <a:spcPts val="39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3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Comunicazione e gestione errori del client utente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00128" y="5848932"/>
            <a:ext cx="15887745" cy="3409368"/>
            <a:chOff x="0" y="0"/>
            <a:chExt cx="2064225" cy="442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4225" cy="442964"/>
            </a:xfrm>
            <a:custGeom>
              <a:avLst/>
              <a:gdLst/>
              <a:ahLst/>
              <a:cxnLst/>
              <a:rect r="r" b="b" t="t" l="l"/>
              <a:pathLst>
                <a:path h="442964" w="2064225">
                  <a:moveTo>
                    <a:pt x="11208" y="0"/>
                  </a:moveTo>
                  <a:lnTo>
                    <a:pt x="2053017" y="0"/>
                  </a:lnTo>
                  <a:cubicBezTo>
                    <a:pt x="2059207" y="0"/>
                    <a:pt x="2064225" y="5018"/>
                    <a:pt x="2064225" y="11208"/>
                  </a:cubicBezTo>
                  <a:lnTo>
                    <a:pt x="2064225" y="431756"/>
                  </a:lnTo>
                  <a:cubicBezTo>
                    <a:pt x="2064225" y="437946"/>
                    <a:pt x="2059207" y="442964"/>
                    <a:pt x="2053017" y="442964"/>
                  </a:cubicBezTo>
                  <a:lnTo>
                    <a:pt x="11208" y="442964"/>
                  </a:lnTo>
                  <a:cubicBezTo>
                    <a:pt x="5018" y="442964"/>
                    <a:pt x="0" y="437946"/>
                    <a:pt x="0" y="431756"/>
                  </a:cubicBezTo>
                  <a:lnTo>
                    <a:pt x="0" y="11208"/>
                  </a:lnTo>
                  <a:cubicBezTo>
                    <a:pt x="0" y="5018"/>
                    <a:pt x="5018" y="0"/>
                    <a:pt x="1120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5051" r="0" b="-10505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4296" y="3388741"/>
            <a:ext cx="12919407" cy="345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Uso di protocolli basati su TLS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 HTTPS un modulo carica il certificato del server e la relativa chiave privata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configurazione TLS del server viene attivata nel main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 MQTT viene utilizzato il certificato CA del broker</a:t>
            </a:r>
          </a:p>
          <a:p>
            <a:pPr algn="l" marL="610996" indent="-305498" lvl="1">
              <a:lnSpc>
                <a:spcPts val="39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Permette al backend di verificarne l'identità durante la connessione TLS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78692" y="1123950"/>
            <a:ext cx="5330615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SICUREZZA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7017" y="1504900"/>
            <a:ext cx="11613966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AUTENTICAZIONE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26418"/>
            <a:ext cx="5901676" cy="245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330" indent="-305665" lvl="1">
              <a:lnSpc>
                <a:spcPts val="3964"/>
              </a:lnSpc>
              <a:buFont typeface="Arial"/>
              <a:buChar char="•"/>
            </a:pPr>
            <a:r>
              <a:rPr lang="en-US" b="true" sz="283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Gestione del processo di registrazione e accesso utente</a:t>
            </a:r>
          </a:p>
          <a:p>
            <a:pPr algn="l" marL="611330" indent="-305665" lvl="1">
              <a:lnSpc>
                <a:spcPts val="39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3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Controllo autorizzazione per risorse protette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49279" y="3283568"/>
            <a:ext cx="10010021" cy="5974732"/>
          </a:xfrm>
          <a:custGeom>
            <a:avLst/>
            <a:gdLst/>
            <a:ahLst/>
            <a:cxnLst/>
            <a:rect r="r" b="b" t="t" l="l"/>
            <a:pathLst>
              <a:path h="5974732" w="10010021">
                <a:moveTo>
                  <a:pt x="0" y="0"/>
                </a:moveTo>
                <a:lnTo>
                  <a:pt x="10010021" y="0"/>
                </a:lnTo>
                <a:lnTo>
                  <a:pt x="10010021" y="5974732"/>
                </a:lnTo>
                <a:lnTo>
                  <a:pt x="0" y="5974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7017" y="1504900"/>
            <a:ext cx="11613966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MESSAGGI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17" y="3241575"/>
            <a:ext cx="6200401" cy="195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973" indent="-304987" lvl="1">
              <a:lnSpc>
                <a:spcPts val="3955"/>
              </a:lnSpc>
              <a:buFont typeface="Arial"/>
              <a:buChar char="•"/>
            </a:pPr>
            <a:r>
              <a:rPr lang="en-US" b="true" sz="282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Conversazione unicast tra singolo utente e admin (server)</a:t>
            </a:r>
          </a:p>
          <a:p>
            <a:pPr algn="l" marL="609973" indent="-304987" lvl="1">
              <a:lnSpc>
                <a:spcPts val="39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Conversazione broadcast dal server agli utenti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70316" y="3298725"/>
            <a:ext cx="10688984" cy="5738648"/>
          </a:xfrm>
          <a:custGeom>
            <a:avLst/>
            <a:gdLst/>
            <a:ahLst/>
            <a:cxnLst/>
            <a:rect r="r" b="b" t="t" l="l"/>
            <a:pathLst>
              <a:path h="5738648" w="10688984">
                <a:moveTo>
                  <a:pt x="0" y="0"/>
                </a:moveTo>
                <a:lnTo>
                  <a:pt x="10688984" y="0"/>
                </a:lnTo>
                <a:lnTo>
                  <a:pt x="10688984" y="5738649"/>
                </a:lnTo>
                <a:lnTo>
                  <a:pt x="0" y="5738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7017" y="1504900"/>
            <a:ext cx="11613966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4320" y="2921085"/>
            <a:ext cx="4375505" cy="393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22" indent="-305461" lvl="1">
              <a:lnSpc>
                <a:spcPts val="3961"/>
              </a:lnSpc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Analisi del movimento di un utente su intervalli temporali definiti</a:t>
            </a:r>
          </a:p>
          <a:p>
            <a:pPr algn="l" marL="610922" indent="-305461" lvl="1">
              <a:lnSpc>
                <a:spcPts val="39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Ricostruzione dei tragitti percorsi e calcolo di dati aggregati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41846" y="2978235"/>
            <a:ext cx="12891110" cy="5739976"/>
          </a:xfrm>
          <a:custGeom>
            <a:avLst/>
            <a:gdLst/>
            <a:ahLst/>
            <a:cxnLst/>
            <a:rect r="r" b="b" t="t" l="l"/>
            <a:pathLst>
              <a:path h="5739976" w="12891110">
                <a:moveTo>
                  <a:pt x="0" y="0"/>
                </a:moveTo>
                <a:lnTo>
                  <a:pt x="12891110" y="0"/>
                </a:lnTo>
                <a:lnTo>
                  <a:pt x="12891110" y="5739976"/>
                </a:lnTo>
                <a:lnTo>
                  <a:pt x="0" y="5739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38065" y="1123950"/>
            <a:ext cx="12211870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MAPPA E TRACCIAMENTO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48000"/>
            <a:ext cx="4852101" cy="393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069" indent="-305034" lvl="1">
              <a:lnSpc>
                <a:spcPts val="3955"/>
              </a:lnSpc>
              <a:buFont typeface="Arial"/>
              <a:buChar char="•"/>
            </a:pPr>
            <a:r>
              <a:rPr lang="en-US" b="true" sz="282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Stato attuale dell’utente</a:t>
            </a:r>
          </a:p>
          <a:p>
            <a:pPr algn="l" marL="610069" indent="-305034" lvl="1">
              <a:lnSpc>
                <a:spcPts val="3955"/>
              </a:lnSpc>
              <a:buFont typeface="Arial"/>
              <a:buChar char="•"/>
            </a:pPr>
            <a:r>
              <a:rPr lang="en-US" b="true" sz="282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Tracciamento in tempo reale sulla mappa </a:t>
            </a:r>
          </a:p>
          <a:p>
            <a:pPr algn="l" marL="610069" indent="-305034" lvl="1">
              <a:lnSpc>
                <a:spcPts val="39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Aggiornamento della posizione con frequenza scelta dall’admin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04040" y="2805150"/>
            <a:ext cx="11766474" cy="5152892"/>
          </a:xfrm>
          <a:custGeom>
            <a:avLst/>
            <a:gdLst/>
            <a:ahLst/>
            <a:cxnLst/>
            <a:rect r="r" b="b" t="t" l="l"/>
            <a:pathLst>
              <a:path h="5152892" w="11766474">
                <a:moveTo>
                  <a:pt x="0" y="0"/>
                </a:moveTo>
                <a:lnTo>
                  <a:pt x="11766474" y="0"/>
                </a:lnTo>
                <a:lnTo>
                  <a:pt x="11766474" y="5152892"/>
                </a:lnTo>
                <a:lnTo>
                  <a:pt x="0" y="5152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967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45766" y="623471"/>
            <a:ext cx="8996468" cy="87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88"/>
              </a:lnSpc>
              <a:spcBef>
                <a:spcPct val="0"/>
              </a:spcBef>
            </a:pPr>
            <a:r>
              <a:rPr lang="en-US" b="true" sz="6193" spc="-365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TECNOLOGIE PRINCIPALI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45550"/>
            <a:ext cx="3542307" cy="382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Rust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Tokio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rusqlite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Axum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tower-http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jsonwebtoken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serde/serde_json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rumqttc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chrono</a:t>
            </a:r>
          </a:p>
          <a:p>
            <a:pPr algn="l" marL="610996" indent="-305498" lvl="1">
              <a:lnSpc>
                <a:spcPts val="30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Argon2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1007" y="3845550"/>
            <a:ext cx="3542307" cy="382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rand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validator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tracing/tracing-subscriber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anyhow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dotenvy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sysinfo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futures</a:t>
            </a:r>
          </a:p>
          <a:p>
            <a:pPr algn="l" marL="610996" indent="-305498" lvl="1">
              <a:lnSpc>
                <a:spcPts val="30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Vite + React + TypeScript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74685" y="3845550"/>
            <a:ext cx="3542307" cy="230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React 18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TypeScript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Vite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React Router DOM</a:t>
            </a:r>
          </a:p>
          <a:p>
            <a:pPr algn="l" marL="610996" indent="-305498" lvl="1">
              <a:lnSpc>
                <a:spcPts val="30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Tailwind CSS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993" y="3845550"/>
            <a:ext cx="3542307" cy="230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Framer Motion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Leaflet + React-Leaflet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Axios</a:t>
            </a:r>
          </a:p>
          <a:p>
            <a:pPr algn="l" marL="610996" indent="-305498" lvl="1">
              <a:lnSpc>
                <a:spcPts val="3056"/>
              </a:lnSpc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MQTT.js</a:t>
            </a:r>
          </a:p>
          <a:p>
            <a:pPr algn="l" marL="610996" indent="-305498" lvl="1">
              <a:lnSpc>
                <a:spcPts val="30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 spc="-16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Lucide React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9485" y="2674045"/>
            <a:ext cx="3542307" cy="63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b="true" sz="4529" spc="-2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BACKEND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46171" y="2674045"/>
            <a:ext cx="3542307" cy="63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b="true" sz="4529" spc="-2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FRONTEND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93386"/>
            <a:ext cx="10155052" cy="196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0"/>
              </a:lnSpc>
            </a:pPr>
            <a:r>
              <a:rPr lang="en-US" sz="14000" spc="-82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08035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001928"/>
            <a:ext cx="13616443" cy="225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79"/>
              </a:lnSpc>
              <a:spcBef>
                <a:spcPct val="0"/>
              </a:spcBef>
            </a:pPr>
            <a:r>
              <a:rPr lang="en-US" b="true" sz="15999" spc="-943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VERY MUCH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944219" cy="568248"/>
          </a:xfrm>
          <a:custGeom>
            <a:avLst/>
            <a:gdLst/>
            <a:ahLst/>
            <a:cxnLst/>
            <a:rect r="r" b="b" t="t" l="l"/>
            <a:pathLst>
              <a:path h="568248" w="944219">
                <a:moveTo>
                  <a:pt x="0" y="0"/>
                </a:moveTo>
                <a:lnTo>
                  <a:pt x="944219" y="0"/>
                </a:lnTo>
                <a:lnTo>
                  <a:pt x="944219" y="568248"/>
                </a:lnTo>
                <a:lnTo>
                  <a:pt x="0" y="568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DAHSeCEv8eY</dc:identifier>
  <dcterms:modified xsi:type="dcterms:W3CDTF">2011-08-01T06:04:30Z</dcterms:modified>
  <cp:revision>1</cp:revision>
  <dc:title>Georuggine</dc:title>
</cp:coreProperties>
</file>